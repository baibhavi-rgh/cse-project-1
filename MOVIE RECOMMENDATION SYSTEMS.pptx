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869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509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244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78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536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23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162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9659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92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357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1882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916127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3548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69049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109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0348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675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CE624-16E4-46F4-9489-B0FF5104362E}" type="datetimeFigureOut">
              <a:rPr lang="en-IN" smtClean="0"/>
              <a:t>23-11-2025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8FD433-2773-412D-80DB-E30D97CF4D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1485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1EEFA-22F9-4AD9-BCF9-BC47D61FA6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Agency FB" panose="020B0503020202020204" pitchFamily="34" charset="0"/>
              </a:rPr>
              <a:t>MOVIE RECOMMENDATION SYSTEMS</a:t>
            </a:r>
            <a:br>
              <a:rPr lang="en-IN" dirty="0">
                <a:latin typeface="Agency FB" panose="020B0503020202020204" pitchFamily="34" charset="0"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7F13DA-42D4-DA1E-63AF-824CCAEC7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4" y="3186260"/>
            <a:ext cx="9299371" cy="1781665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/>
              <a:t>PERSONALIZED ENTERTAINMENT IN THE AGE OF AI</a:t>
            </a:r>
            <a:endParaRPr lang="en-US" sz="2800" dirty="0"/>
          </a:p>
          <a:p>
            <a:pPr algn="ctr"/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2534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14309-3786-E777-DECA-98B7E6EA4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IN" b="1" dirty="0">
                <a:latin typeface="Algerian" panose="04020705040A02060702" pitchFamily="82" charset="0"/>
              </a:rPr>
              <a:t>Navigating the Content Ocean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7671B-5AB1-0863-30B8-FB662B57B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443810" cy="3416300"/>
          </a:xfrm>
        </p:spPr>
        <p:txBody>
          <a:bodyPr>
            <a:normAutofit fontScale="92500"/>
          </a:bodyPr>
          <a:lstStyle/>
          <a:p>
            <a:r>
              <a:rPr lang="en-US" i="1" dirty="0">
                <a:latin typeface="Aptos" panose="020B0004020202020204" pitchFamily="34" charset="0"/>
              </a:rPr>
              <a:t>We live in an era of </a:t>
            </a:r>
            <a:r>
              <a:rPr lang="en-US" b="1" i="1" dirty="0">
                <a:latin typeface="Aptos" panose="020B0004020202020204" pitchFamily="34" charset="0"/>
              </a:rPr>
              <a:t>content abundance</a:t>
            </a:r>
            <a:r>
              <a:rPr lang="en-US" i="1" dirty="0">
                <a:latin typeface="Aptos" panose="020B0004020202020204" pitchFamily="34" charset="0"/>
              </a:rPr>
              <a:t>. Platforms like Netflix and Amazon Prime host thousands of titles. </a:t>
            </a:r>
          </a:p>
          <a:p>
            <a:r>
              <a:rPr lang="en-US" b="1" i="1" dirty="0">
                <a:latin typeface="Aptos" panose="020B0004020202020204" pitchFamily="34" charset="0"/>
              </a:rPr>
              <a:t>The Problem:</a:t>
            </a:r>
            <a:r>
              <a:rPr lang="en-US" i="1" dirty="0">
                <a:latin typeface="Aptos" panose="020B0004020202020204" pitchFamily="34" charset="0"/>
              </a:rPr>
              <a:t> "Analysis Paralysis." Users spend more time searching than watching.</a:t>
            </a:r>
          </a:p>
          <a:p>
            <a:r>
              <a:rPr lang="en-US" b="1" i="1" dirty="0">
                <a:latin typeface="Aptos" panose="020B0004020202020204" pitchFamily="34" charset="0"/>
              </a:rPr>
              <a:t>The Cost</a:t>
            </a:r>
            <a:r>
              <a:rPr lang="en-US" i="1" dirty="0">
                <a:latin typeface="Aptos" panose="020B0004020202020204" pitchFamily="34" charset="0"/>
              </a:rPr>
              <a:t>: Without guidance, users get frustrated and churn (cancel subscriptions).</a:t>
            </a:r>
          </a:p>
          <a:p>
            <a:r>
              <a:rPr lang="en-US" b="1" i="1" dirty="0">
                <a:latin typeface="Aptos" panose="020B0004020202020204" pitchFamily="34" charset="0"/>
              </a:rPr>
              <a:t>The Solution:</a:t>
            </a:r>
            <a:r>
              <a:rPr lang="en-US" i="1" dirty="0">
                <a:latin typeface="Aptos" panose="020B0004020202020204" pitchFamily="34" charset="0"/>
              </a:rPr>
              <a:t> Automated filtering that curates a manageable, personalized list.</a:t>
            </a:r>
          </a:p>
          <a:p>
            <a:pPr marL="0" indent="0">
              <a:buNone/>
            </a:pPr>
            <a:r>
              <a:rPr lang="en-US" dirty="0"/>
              <a:t>                                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77A5C0-DC1D-10E6-997A-FCB9DB668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64" y="2555067"/>
            <a:ext cx="5570748" cy="346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3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9B8D2-0962-D0AE-A3BB-5C6D7B7B1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latin typeface="Algerian" panose="04020705040A02060702" pitchFamily="82" charset="0"/>
              </a:rPr>
              <a:t>The Big Three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7D3EBD-2241-4709-7650-FC2B90A80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882" y="2232330"/>
            <a:ext cx="10562235" cy="3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23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28890-B3E9-7E21-7318-64652325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latin typeface="Algerian" panose="04020705040A02060702" pitchFamily="82" charset="0"/>
              </a:rPr>
              <a:t>Content-Based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7E18C-FC67-0715-9C86-9B7CEA184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934003" cy="34163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"</a:t>
            </a:r>
            <a:r>
              <a:rPr lang="en-US" b="1" i="1" dirty="0">
                <a:latin typeface="Aptos" panose="020B0004020202020204" pitchFamily="34" charset="0"/>
              </a:rPr>
              <a:t>If you liked The Matrix...”</a:t>
            </a:r>
          </a:p>
          <a:p>
            <a:pPr marL="0" indent="0">
              <a:buNone/>
            </a:pPr>
            <a:r>
              <a:rPr lang="en-US" i="1" dirty="0">
                <a:latin typeface="Aptos" panose="020B0004020202020204" pitchFamily="34" charset="0"/>
              </a:rPr>
              <a:t>This method builds a profile of the user's interests based on the metadata of movies they've watched.                                 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>
                <a:latin typeface="Aptos" panose="020B0004020202020204" pitchFamily="34" charset="0"/>
              </a:rPr>
              <a:t> Features: </a:t>
            </a:r>
            <a:r>
              <a:rPr lang="en-US" i="1" dirty="0">
                <a:latin typeface="Aptos" panose="020B0004020202020204" pitchFamily="34" charset="0"/>
              </a:rPr>
              <a:t>Analyzes Genre (Sci-Fi), Director (Wachowskis), Actors (Keanu Reeves), and Keywords (Simulation).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>
                <a:latin typeface="Aptos" panose="020B0004020202020204" pitchFamily="34" charset="0"/>
              </a:rPr>
              <a:t>Logic</a:t>
            </a:r>
            <a:r>
              <a:rPr lang="en-US" i="1" dirty="0">
                <a:latin typeface="Aptos" panose="020B0004020202020204" pitchFamily="34" charset="0"/>
              </a:rPr>
              <a:t>: "User A likes 'Action' and 'Sci-Fi'. Inception is 'Action' and 'Sci-Fi'. Recommend Inception."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i="1" dirty="0">
                <a:latin typeface="Aptos" panose="020B0004020202020204" pitchFamily="34" charset="0"/>
              </a:rPr>
              <a:t>Pro: </a:t>
            </a:r>
            <a:r>
              <a:rPr lang="en-US" i="1" dirty="0">
                <a:latin typeface="Aptos" panose="020B0004020202020204" pitchFamily="34" charset="0"/>
              </a:rPr>
              <a:t>No need for other users' data</a:t>
            </a:r>
            <a:r>
              <a:rPr lang="en-US" dirty="0">
                <a:latin typeface="Aptos" panose="020B0004020202020204" pitchFamily="34" charset="0"/>
              </a:rPr>
              <a:t>.</a:t>
            </a:r>
            <a:endParaRPr lang="en-IN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85C6AF-7358-FE29-295B-9C402DE32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4918" y="2603500"/>
            <a:ext cx="5044877" cy="341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59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55E7D-8278-9EED-7795-61EB481A2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latin typeface="Algerian" panose="04020705040A02060702" pitchFamily="82" charset="0"/>
              </a:rPr>
              <a:t>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DA22D-74C0-6004-70C5-BF8C5D310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5424955" cy="34163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i="1" dirty="0">
                <a:latin typeface="Aptos" panose="020B0004020202020204" pitchFamily="34" charset="0"/>
              </a:rPr>
              <a:t>"The Power of the Crowd" </a:t>
            </a:r>
          </a:p>
          <a:p>
            <a:pPr marL="0" indent="0">
              <a:buNone/>
            </a:pPr>
            <a:r>
              <a:rPr lang="en-US" i="1" dirty="0"/>
              <a:t>This technique relies on the assumption that people who agreed in the past will agree in the future.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/>
              <a:t> </a:t>
            </a:r>
            <a:r>
              <a:rPr lang="en-US" b="1" i="1" dirty="0">
                <a:latin typeface="Aptos" panose="020B0004020202020204" pitchFamily="34" charset="0"/>
              </a:rPr>
              <a:t>User-User</a:t>
            </a:r>
            <a:r>
              <a:rPr lang="en-US" i="1" dirty="0">
                <a:latin typeface="Aptos" panose="020B0004020202020204" pitchFamily="34" charset="0"/>
              </a:rPr>
              <a:t>: Find users similar to you. If they liked Titanic, you might too.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>
                <a:latin typeface="Aptos" panose="020B0004020202020204" pitchFamily="34" charset="0"/>
              </a:rPr>
              <a:t>Item-Item:</a:t>
            </a:r>
            <a:r>
              <a:rPr lang="en-US" i="1" dirty="0">
                <a:latin typeface="Aptos" panose="020B0004020202020204" pitchFamily="34" charset="0"/>
              </a:rPr>
              <a:t> Find items that are often watched together. "Users who bought this also bought..." </a:t>
            </a:r>
          </a:p>
          <a:p>
            <a:pPr marL="0" indent="0">
              <a:buNone/>
            </a:pPr>
            <a:r>
              <a:rPr lang="en-US" i="1" dirty="0">
                <a:latin typeface="Aptos" panose="020B0004020202020204" pitchFamily="34" charset="0"/>
              </a:rPr>
              <a:t>This allows </a:t>
            </a:r>
            <a:r>
              <a:rPr lang="en-US" b="1" i="1" dirty="0">
                <a:latin typeface="Aptos" panose="020B0004020202020204" pitchFamily="34" charset="0"/>
              </a:rPr>
              <a:t>for serendipitous discovery</a:t>
            </a:r>
            <a:r>
              <a:rPr lang="en-US" i="1" dirty="0">
                <a:latin typeface="Aptos" panose="020B0004020202020204" pitchFamily="34" charset="0"/>
              </a:rPr>
              <a:t>-finding</a:t>
            </a:r>
            <a:r>
              <a:rPr lang="en-US" b="1" i="1" dirty="0">
                <a:latin typeface="Aptos" panose="020B0004020202020204" pitchFamily="34" charset="0"/>
              </a:rPr>
              <a:t> </a:t>
            </a:r>
            <a:r>
              <a:rPr lang="en-US" i="1" dirty="0">
                <a:latin typeface="Aptos" panose="020B0004020202020204" pitchFamily="34" charset="0"/>
              </a:rPr>
              <a:t>content outside your usual genres.</a:t>
            </a:r>
            <a:endParaRPr lang="en-IN" i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42B2F2-8E42-0299-C1B4-DC1660549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908" y="2347276"/>
            <a:ext cx="5572509" cy="426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22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41964-60AF-865C-F0F2-68E2C8F98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latin typeface="Algerian" panose="04020705040A02060702" pitchFamily="82" charset="0"/>
              </a:rPr>
              <a:t>Under the Hood: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9E633-6DCF-CABE-C349-8A2DA26A8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378" y="2243579"/>
            <a:ext cx="6391373" cy="418550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Matrix Factorization </a:t>
            </a:r>
          </a:p>
          <a:p>
            <a:pPr marL="0" indent="0">
              <a:buNone/>
            </a:pPr>
            <a:r>
              <a:rPr lang="en-US" i="1" dirty="0">
                <a:latin typeface="Aptos" panose="020B0004020202020204" pitchFamily="34" charset="0"/>
              </a:rPr>
              <a:t>A powerful technique used to discover latent features underlying the interactions between users and items.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>
                <a:latin typeface="Aptos" panose="020B0004020202020204" pitchFamily="34" charset="0"/>
              </a:rPr>
              <a:t> </a:t>
            </a:r>
            <a:r>
              <a:rPr lang="en-US" b="1" i="1" dirty="0">
                <a:latin typeface="Aptos" panose="020B0004020202020204" pitchFamily="34" charset="0"/>
              </a:rPr>
              <a:t>User-Item Matrix: </a:t>
            </a:r>
            <a:r>
              <a:rPr lang="en-US" i="1" dirty="0">
                <a:latin typeface="Aptos" panose="020B0004020202020204" pitchFamily="34" charset="0"/>
              </a:rPr>
              <a:t>A giant grid where rows are users and columns are movies. Most cells are empty (sparse).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>
                <a:latin typeface="Aptos" panose="020B0004020202020204" pitchFamily="34" charset="0"/>
              </a:rPr>
              <a:t>Dimensionality Reduction:</a:t>
            </a:r>
            <a:r>
              <a:rPr lang="en-US" i="1" dirty="0">
                <a:latin typeface="Aptos" panose="020B0004020202020204" pitchFamily="34" charset="0"/>
              </a:rPr>
              <a:t> Techniques like </a:t>
            </a:r>
            <a:r>
              <a:rPr lang="en-US" b="1" i="1" dirty="0">
                <a:latin typeface="Aptos" panose="020B0004020202020204" pitchFamily="34" charset="0"/>
              </a:rPr>
              <a:t>SVD (Singular Value Decomposition</a:t>
            </a:r>
            <a:r>
              <a:rPr lang="en-US" i="1" dirty="0">
                <a:latin typeface="Aptos" panose="020B0004020202020204" pitchFamily="34" charset="0"/>
              </a:rPr>
              <a:t>) break this matrix down to find hidden patterns.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b="1" i="1" dirty="0">
                <a:latin typeface="Aptos" panose="020B0004020202020204" pitchFamily="34" charset="0"/>
              </a:rPr>
              <a:t>Similarity Measures</a:t>
            </a:r>
            <a:r>
              <a:rPr lang="en-US" i="1" dirty="0">
                <a:latin typeface="Aptos" panose="020B0004020202020204" pitchFamily="34" charset="0"/>
              </a:rPr>
              <a:t>: Algorithms use </a:t>
            </a:r>
            <a:r>
              <a:rPr lang="en-US" b="1" i="1" dirty="0">
                <a:latin typeface="Aptos" panose="020B0004020202020204" pitchFamily="34" charset="0"/>
              </a:rPr>
              <a:t>Cosine Similarity or Pearson Correlation </a:t>
            </a:r>
            <a:r>
              <a:rPr lang="en-US" i="1" dirty="0">
                <a:latin typeface="Aptos" panose="020B0004020202020204" pitchFamily="34" charset="0"/>
              </a:rPr>
              <a:t>to calculate how close two vectors (users or items) are in space</a:t>
            </a:r>
            <a:r>
              <a:rPr lang="en-US" i="1" dirty="0"/>
              <a:t>.</a:t>
            </a:r>
            <a:endParaRPr lang="en-IN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163304-12B6-E002-FA4C-CB993B6FB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807" y="2468880"/>
            <a:ext cx="5356955" cy="2966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411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3508-F74E-6586-BB08-741C65F36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latin typeface="Algerian" panose="04020705040A02060702" pitchFamily="82" charset="0"/>
              </a:rPr>
              <a:t>Fuelling the Engine: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ED093C-C068-A05E-4ADF-26B303DA7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97" y="2341854"/>
            <a:ext cx="10476603" cy="440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624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6C33A-36A9-396B-CEDB-51CF8F9D1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480" y="764373"/>
            <a:ext cx="7711440" cy="1293028"/>
          </a:xfrm>
        </p:spPr>
        <p:txBody>
          <a:bodyPr/>
          <a:lstStyle/>
          <a:p>
            <a:pPr algn="ctr"/>
            <a:r>
              <a:rPr lang="en-IN" b="1" dirty="0">
                <a:latin typeface="Algerian" panose="04020705040A02060702" pitchFamily="82" charset="0"/>
              </a:rPr>
              <a:t>The Cold Start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0D0BE-0CBC-8B48-E75B-852953D6A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1" y="2428240"/>
            <a:ext cx="5425439" cy="42164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i="1" dirty="0">
                <a:latin typeface="Aptos" panose="020B0004020202020204" pitchFamily="34" charset="0"/>
              </a:rPr>
              <a:t>The New User Dilemma </a:t>
            </a:r>
          </a:p>
          <a:p>
            <a:pPr marL="0" indent="0">
              <a:buNone/>
            </a:pPr>
            <a:r>
              <a:rPr lang="en-US" i="1" dirty="0">
                <a:latin typeface="Aptos" panose="020B0004020202020204" pitchFamily="34" charset="0"/>
              </a:rPr>
              <a:t>How do you recommend movies to a user with no history? Or recommend a new movie that has no ratings?</a:t>
            </a:r>
          </a:p>
          <a:p>
            <a:pPr marL="0" indent="0">
              <a:buNone/>
            </a:pPr>
            <a:r>
              <a:rPr lang="en-US" i="1" dirty="0">
                <a:latin typeface="Aptos" panose="020B0004020202020204" pitchFamily="34" charset="0"/>
              </a:rPr>
              <a:t> Solutions: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i="1" dirty="0">
                <a:latin typeface="Aptos" panose="020B0004020202020204" pitchFamily="34" charset="0"/>
              </a:rPr>
              <a:t>Trending Lists</a:t>
            </a:r>
            <a:r>
              <a:rPr lang="en-US" i="1" dirty="0">
                <a:latin typeface="Aptos" panose="020B0004020202020204" pitchFamily="34" charset="0"/>
              </a:rPr>
              <a:t>: Recommend globally popular items initially.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i="1" dirty="0">
                <a:latin typeface="Aptos" panose="020B0004020202020204" pitchFamily="34" charset="0"/>
              </a:rPr>
              <a:t>Onboarding: </a:t>
            </a:r>
            <a:r>
              <a:rPr lang="en-US" i="1" dirty="0">
                <a:latin typeface="Aptos" panose="020B0004020202020204" pitchFamily="34" charset="0"/>
              </a:rPr>
              <a:t>Ask users to select 3-5 favorite genres/movies upon sign-up.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b="1" i="1" dirty="0">
                <a:latin typeface="Aptos" panose="020B0004020202020204" pitchFamily="34" charset="0"/>
              </a:rPr>
              <a:t>Metadata:</a:t>
            </a:r>
            <a:r>
              <a:rPr lang="en-US" i="1" dirty="0">
                <a:latin typeface="Aptos" panose="020B0004020202020204" pitchFamily="34" charset="0"/>
              </a:rPr>
              <a:t> Use content-based filtering for new items until enough interaction data is gathered.</a:t>
            </a:r>
            <a:endParaRPr lang="en-IN" i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612C13-DD1A-08FC-CC72-189A097F0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547" y="2517393"/>
            <a:ext cx="6141453" cy="4038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75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66A6-0AD1-F0D5-4B7A-0FCBEE275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latin typeface="Algerian" panose="04020705040A02060702" pitchFamily="82" charset="0"/>
              </a:rPr>
              <a:t>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A7567-CD91-7782-94D0-797CCC635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920" y="2346960"/>
            <a:ext cx="6045201" cy="36728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i="1" dirty="0">
                <a:latin typeface="Aptos" panose="020B0004020202020204" pitchFamily="34" charset="0"/>
              </a:rPr>
              <a:t>Driven by Recommendations </a:t>
            </a:r>
          </a:p>
          <a:p>
            <a:pPr marL="0" indent="0">
              <a:buNone/>
            </a:pPr>
            <a:r>
              <a:rPr lang="en-US" i="1" dirty="0">
                <a:latin typeface="Aptos" panose="020B0004020202020204" pitchFamily="34" charset="0"/>
              </a:rPr>
              <a:t>The vast majority of viewing choices are not result of search, but of algorithmic suggestion.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i="1" dirty="0">
                <a:latin typeface="Aptos" panose="020B0004020202020204" pitchFamily="34" charset="0"/>
              </a:rPr>
              <a:t>Retention</a:t>
            </a:r>
            <a:r>
              <a:rPr lang="en-US" i="1" dirty="0">
                <a:latin typeface="Aptos" panose="020B0004020202020204" pitchFamily="34" charset="0"/>
              </a:rPr>
              <a:t>: Reduces churn by constantly surfacing relevant content.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i="1" dirty="0">
                <a:latin typeface="Aptos" panose="020B0004020202020204" pitchFamily="34" charset="0"/>
              </a:rPr>
              <a:t> </a:t>
            </a:r>
            <a:r>
              <a:rPr lang="en-US" b="1" i="1" dirty="0">
                <a:latin typeface="Aptos" panose="020B0004020202020204" pitchFamily="34" charset="0"/>
              </a:rPr>
              <a:t>Catalog Usage</a:t>
            </a:r>
            <a:r>
              <a:rPr lang="en-US" i="1" dirty="0">
                <a:latin typeface="Aptos" panose="020B0004020202020204" pitchFamily="34" charset="0"/>
              </a:rPr>
              <a:t>: Helps surface "Long Tail" content—older or niche movies that would otherwise be forgotten.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i="1" dirty="0">
                <a:latin typeface="Aptos" panose="020B0004020202020204" pitchFamily="34" charset="0"/>
              </a:rPr>
              <a:t> Financial Impact</a:t>
            </a:r>
            <a:r>
              <a:rPr lang="en-US" i="1" dirty="0">
                <a:latin typeface="Aptos" panose="020B0004020202020204" pitchFamily="34" charset="0"/>
              </a:rPr>
              <a:t>: Netflix estimated its recommendation engine saves over $1 Billion annually in customer retention.</a:t>
            </a:r>
            <a:endParaRPr lang="en-IN" i="1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4A874F-F795-D3E5-D0C5-CCD82E117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1" y="2500995"/>
            <a:ext cx="5308869" cy="3627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963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5B0A-7600-3A10-88AC-6297324E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b="1" dirty="0">
                <a:latin typeface="Algerian" panose="04020705040A02060702" pitchFamily="82" charset="0"/>
              </a:rPr>
              <a:t>The Future of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4EFD4-DE02-6CF2-037D-CC7B793F3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5410200" cy="40241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Context &amp; Al </a:t>
            </a:r>
          </a:p>
          <a:p>
            <a:pPr marL="0" indent="0">
              <a:buNone/>
            </a:pPr>
            <a:r>
              <a:rPr lang="en-US" dirty="0"/>
              <a:t>The next generation of engines goes beyond simple history. </a:t>
            </a:r>
          </a:p>
          <a:p>
            <a:r>
              <a:rPr lang="en-US" dirty="0"/>
              <a:t>Context-Awareness: Recommendations based on time of day, device, location, or even inferred mood. </a:t>
            </a:r>
          </a:p>
          <a:p>
            <a:r>
              <a:rPr lang="en-US" dirty="0"/>
              <a:t>Deep Learning: Neural networks analyzing video frames and audio directly to understand content vibes. </a:t>
            </a:r>
          </a:p>
          <a:p>
            <a:r>
              <a:rPr lang="en-US" dirty="0"/>
              <a:t>Generative Al: Creating personalized summaries, trailers, or even generating custom content to bridge gaps in the catalog.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244362-F0AF-8C61-BCC8-22A94164E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299" y="2372361"/>
            <a:ext cx="5880913" cy="3418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60066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41</TotalTime>
  <Words>554</Words>
  <Application>Microsoft Office PowerPoint</Application>
  <PresentationFormat>Widescreen</PresentationFormat>
  <Paragraphs>48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Agency FB</vt:lpstr>
      <vt:lpstr>Algerian</vt:lpstr>
      <vt:lpstr>Aptos</vt:lpstr>
      <vt:lpstr>Arial</vt:lpstr>
      <vt:lpstr>Century Gothic</vt:lpstr>
      <vt:lpstr>Wingdings</vt:lpstr>
      <vt:lpstr>Vapor Trail</vt:lpstr>
      <vt:lpstr>MOVIE RECOMMENDATION SYSTEMS  </vt:lpstr>
      <vt:lpstr>Navigating the Content Ocean  </vt:lpstr>
      <vt:lpstr>The Big Three</vt:lpstr>
      <vt:lpstr>Content-Based Filtering</vt:lpstr>
      <vt:lpstr>Collaborative Filtering</vt:lpstr>
      <vt:lpstr>Under the Hood: Algorithms</vt:lpstr>
      <vt:lpstr>Fuelling the Engine: Data</vt:lpstr>
      <vt:lpstr>The Cold Start Problem</vt:lpstr>
      <vt:lpstr>Why It Matters</vt:lpstr>
      <vt:lpstr>The Future of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bira rout</dc:creator>
  <cp:lastModifiedBy>bira rout</cp:lastModifiedBy>
  <cp:revision>1</cp:revision>
  <dcterms:created xsi:type="dcterms:W3CDTF">2025-11-23T10:42:31Z</dcterms:created>
  <dcterms:modified xsi:type="dcterms:W3CDTF">2025-11-23T11:24:25Z</dcterms:modified>
</cp:coreProperties>
</file>